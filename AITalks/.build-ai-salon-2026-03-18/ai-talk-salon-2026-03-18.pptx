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9326880" y="137160"/>
            <a:ext cx="2560320" cy="6492240"/>
          </a:xfrm>
          <a:prstGeom prst="rect">
            <a:avLst/>
          </a:prstGeom>
          <a:solidFill>
            <a:srgbClr val="1D7A85">
              <a:alpha val="82000"/>
            </a:srgbClr>
          </a:solidFill>
          <a:ln w="12700">
            <a:solidFill>
              <a:srgbClr val="1D7A8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360000">
            <a:off x="10195560" y="502920"/>
            <a:ext cx="1051560" cy="5440680"/>
          </a:xfrm>
          <a:prstGeom prst="rect">
            <a:avLst/>
          </a:prstGeom>
          <a:solidFill>
            <a:srgbClr val="E97532">
              <a:alpha val="82000"/>
            </a:srgbClr>
          </a:solidFill>
          <a:ln w="12700">
            <a:solidFill>
              <a:srgbClr val="E9753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" y="1298448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AI时代对我们工作与生活的影响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7E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从工具升级到决策方式变化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3310128"/>
            <a:ext cx="1005840" cy="0"/>
          </a:xfrm>
          <a:prstGeom prst="line">
            <a:avLst/>
          </a:prstGeom>
          <a:noFill/>
          <a:ln w="12700">
            <a:solidFill>
              <a:srgbClr val="E975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38404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C7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2026.03.18  龙城CC创意街区沙龙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909560" y="106070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882128" y="1463040"/>
            <a:ext cx="1060704" cy="420624"/>
          </a:xfrm>
          <a:prstGeom prst="roundRect">
            <a:avLst>
              <a:gd name="adj" fmla="val 17391"/>
            </a:avLst>
          </a:prstGeom>
          <a:solidFill>
            <a:srgbClr val="E97532">
              <a:alpha val="9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82128" y="1572768"/>
            <a:ext cx="1060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208008" y="1463040"/>
            <a:ext cx="1060704" cy="420624"/>
          </a:xfrm>
          <a:prstGeom prst="roundRect">
            <a:avLst>
              <a:gd name="adj" fmla="val 17391"/>
            </a:avLst>
          </a:prstGeom>
          <a:solidFill>
            <a:srgbClr val="1D7A85">
              <a:alpha val="9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08008" y="1572768"/>
            <a:ext cx="1060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882128" y="2267712"/>
            <a:ext cx="1060704" cy="420624"/>
          </a:xfrm>
          <a:prstGeom prst="roundRect">
            <a:avLst>
              <a:gd name="adj" fmla="val 17391"/>
            </a:avLst>
          </a:prstGeom>
          <a:solidFill>
            <a:srgbClr val="E97532">
              <a:alpha val="9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82128" y="2377440"/>
            <a:ext cx="1060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208008" y="2267712"/>
            <a:ext cx="1060704" cy="420624"/>
          </a:xfrm>
          <a:prstGeom prst="roundRect">
            <a:avLst>
              <a:gd name="adj" fmla="val 17391"/>
            </a:avLst>
          </a:prstGeom>
          <a:solidFill>
            <a:srgbClr val="1D7A85">
              <a:alpha val="9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08008" y="2377440"/>
            <a:ext cx="1060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转型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955280" y="44988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20分钟观点分享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955280" y="4956048"/>
            <a:ext cx="239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4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不讲复杂技术，重点讲 AI 已经怎样进入我们的工作和生活。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287000" y="641908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Salon Talk  |  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F2233"/>
          </a:solidFill>
          <a:ln w="12700">
            <a:solidFill>
              <a:srgbClr val="0F22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8686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为什么今天大家都在谈 AI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84080" y="886968"/>
            <a:ext cx="1783080" cy="310896"/>
          </a:xfrm>
          <a:prstGeom prst="rect">
            <a:avLst/>
          </a:prstGeom>
          <a:solidFill>
            <a:srgbClr val="FFFFFF"/>
          </a:solidFill>
          <a:ln>
            <a:solidFill>
              <a:srgbClr val="E9753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97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NOW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881360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7830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已从“新概念”进入“可使用阶段”。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822960" y="2670048"/>
            <a:ext cx="109728" cy="109728"/>
          </a:xfrm>
          <a:prstGeom prst="ellipse">
            <a:avLst/>
          </a:prstGeom>
          <a:solidFill>
            <a:srgbClr val="E97532"/>
          </a:solidFill>
          <a:ln w="12700">
            <a:solidFill>
              <a:srgbClr val="E9753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251460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它不再只属于科技公司，而是在进入各行各业。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3328416"/>
            <a:ext cx="109728" cy="109728"/>
          </a:xfrm>
          <a:prstGeom prst="ellipse">
            <a:avLst/>
          </a:prstGeom>
          <a:solidFill>
            <a:srgbClr val="E97532"/>
          </a:solidFill>
          <a:ln w="12700">
            <a:solidFill>
              <a:srgbClr val="E9753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3172968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真正的变化，不是看见 AI，而是开始把 AI 放进流程。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22960" y="3986784"/>
            <a:ext cx="109728" cy="109728"/>
          </a:xfrm>
          <a:prstGeom prst="ellipse">
            <a:avLst/>
          </a:prstGeom>
          <a:solidFill>
            <a:srgbClr val="E97532"/>
          </a:solidFill>
          <a:ln w="12700">
            <a:solidFill>
              <a:srgbClr val="E97532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" y="3831336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从搜索、整理、写作到分析，越来越多工作正被重新分工。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583680" y="1810512"/>
            <a:ext cx="23317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7D7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21424" y="20116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97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821424" y="257860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工具可用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821424" y="290779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56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已经从概念展示进入个人与组织可直接上手的阶段。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98280" y="1810512"/>
            <a:ext cx="23317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7EE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36024" y="20116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336024" y="257860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场景扩散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336024" y="290779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56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从写材料到做方案，AI 开始覆盖高频工作场景。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83680" y="3822192"/>
            <a:ext cx="23317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8EDD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21424" y="40233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A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821424" y="459028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角色重排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821424" y="491947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56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人负责判断与取舍，AI 负责整理与生成。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098280" y="3822192"/>
            <a:ext cx="23317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36024" y="40233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9336024" y="459028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速度优势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336024" y="491947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56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谁更早把 AI 变成方法，谁就更早建立效率差。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287000" y="641908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Salon Talk  |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F2233"/>
          </a:solidFill>
          <a:ln w="12700">
            <a:solidFill>
              <a:srgbClr val="0F22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8686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先改变的是工作方式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84080" y="886968"/>
            <a:ext cx="1783080" cy="310896"/>
          </a:xfrm>
          <a:prstGeom prst="rect">
            <a:avLst/>
          </a:prstGeom>
          <a:solidFill>
            <a:srgbClr val="FFFFFF"/>
          </a:solidFill>
          <a:ln>
            <a:solidFill>
              <a:srgbClr val="E9753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97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FLOW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881360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828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C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过去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565392" y="1828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7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2331720"/>
            <a:ext cx="2240280" cy="621792"/>
          </a:xfrm>
          <a:prstGeom prst="roundRect">
            <a:avLst>
              <a:gd name="adj" fmla="val 11765"/>
            </a:avLst>
          </a:prstGeom>
          <a:solidFill>
            <a:srgbClr val="F7F9FB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53288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人找资料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3355848"/>
            <a:ext cx="2240280" cy="621792"/>
          </a:xfrm>
          <a:prstGeom prst="roundRect">
            <a:avLst>
              <a:gd name="adj" fmla="val 11765"/>
            </a:avLst>
          </a:prstGeom>
          <a:solidFill>
            <a:srgbClr val="F7F9FB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55701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人做整理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4379976"/>
            <a:ext cx="2240280" cy="621792"/>
          </a:xfrm>
          <a:prstGeom prst="roundRect">
            <a:avLst>
              <a:gd name="adj" fmla="val 11765"/>
            </a:avLst>
          </a:prstGeom>
          <a:solidFill>
            <a:srgbClr val="F7F9FB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4581144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人出结果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510528" y="2331720"/>
            <a:ext cx="2743200" cy="621792"/>
          </a:xfrm>
          <a:prstGeom prst="roundRect">
            <a:avLst>
              <a:gd name="adj" fmla="val 11765"/>
            </a:avLst>
          </a:prstGeom>
          <a:solidFill>
            <a:srgbClr val="FFF4EE"/>
          </a:solidFill>
          <a:ln w="12700">
            <a:solidFill>
              <a:srgbClr val="F7D7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84848" y="253288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先生成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510528" y="3355848"/>
            <a:ext cx="2743200" cy="621792"/>
          </a:xfrm>
          <a:prstGeom prst="roundRect">
            <a:avLst>
              <a:gd name="adj" fmla="val 11765"/>
            </a:avLst>
          </a:prstGeom>
          <a:solidFill>
            <a:srgbClr val="EEF8F9"/>
          </a:solidFill>
          <a:ln w="12700">
            <a:solidFill>
              <a:srgbClr val="D7EE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84848" y="355701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人再判断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510528" y="4379976"/>
            <a:ext cx="2743200" cy="621792"/>
          </a:xfrm>
          <a:prstGeom prst="roundRect">
            <a:avLst>
              <a:gd name="adj" fmla="val 11765"/>
            </a:avLst>
          </a:prstGeom>
          <a:solidFill>
            <a:srgbClr val="EEF8F9"/>
          </a:solidFill>
          <a:ln w="12700">
            <a:solidFill>
              <a:srgbClr val="D7EE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84848" y="458114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人做修正与整合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86200" y="2423160"/>
            <a:ext cx="1508760" cy="457200"/>
          </a:xfrm>
          <a:prstGeom prst="chevron">
            <a:avLst/>
          </a:prstGeom>
          <a:solidFill>
            <a:srgbClr val="E97532">
              <a:alpha val="95000"/>
            </a:srgbClr>
          </a:solidFill>
          <a:ln w="12700">
            <a:solidFill>
              <a:srgbClr val="E97532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86200" y="3447288"/>
            <a:ext cx="1508760" cy="457200"/>
          </a:xfrm>
          <a:prstGeom prst="chevron">
            <a:avLst/>
          </a:prstGeom>
          <a:solidFill>
            <a:srgbClr val="E97532">
              <a:alpha val="95000"/>
            </a:srgbClr>
          </a:solidFill>
          <a:ln w="12700">
            <a:solidFill>
              <a:srgbClr val="E97532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86200" y="4471416"/>
            <a:ext cx="1508760" cy="457200"/>
          </a:xfrm>
          <a:prstGeom prst="chevron">
            <a:avLst/>
          </a:prstGeom>
          <a:solidFill>
            <a:srgbClr val="E97532">
              <a:alpha val="95000"/>
            </a:srgbClr>
          </a:solidFill>
          <a:ln w="12700">
            <a:solidFill>
              <a:srgbClr val="E97532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" y="5833872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工作重点正从“重复执行”转向“判断与整合”。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287000" y="641908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Salon Talk  |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F2233"/>
          </a:solidFill>
          <a:ln w="12700">
            <a:solidFill>
              <a:srgbClr val="0F22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8686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对个人工作的三类价值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84080" y="886968"/>
            <a:ext cx="1783080" cy="310896"/>
          </a:xfrm>
          <a:prstGeom prst="rect">
            <a:avLst/>
          </a:prstGeom>
          <a:solidFill>
            <a:srgbClr val="FFFFFF"/>
          </a:solidFill>
          <a:ln>
            <a:solidFill>
              <a:srgbClr val="E9753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97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VALUE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881360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1874520"/>
            <a:ext cx="333756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F7D7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207568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97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24128" y="2642616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提效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24128" y="29718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56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减少重复劳动，缩短搜集资料、整理内容和形成初稿的时间。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25696" y="1874520"/>
            <a:ext cx="333756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7EE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07568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63440" y="2642616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提质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63440" y="29718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56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帮助梳理结构、优化表达，让输出更完整、更有条理。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65008" y="1874520"/>
            <a:ext cx="333756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F8ED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02752" y="207568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A4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302752" y="2642616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拓边界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302752" y="29718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56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让非专业人士也能完成部分专业工作，比如数据分析、脚本编写和内容制作。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1248" y="571500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原来要花半天完成的准备工作，现在往往可以在 30 分钟内拿到一个可用初稿。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287000" y="641908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Salon Talk  |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F2233"/>
          </a:solidFill>
          <a:ln w="12700">
            <a:solidFill>
              <a:srgbClr val="0F22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8686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已经进入高频工作场景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84080" y="886968"/>
            <a:ext cx="1783080" cy="310896"/>
          </a:xfrm>
          <a:prstGeom prst="rect">
            <a:avLst/>
          </a:prstGeom>
          <a:solidFill>
            <a:srgbClr val="FFFFFF"/>
          </a:solidFill>
          <a:ln>
            <a:solidFill>
              <a:srgbClr val="E9753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97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 CASES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881360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1828800"/>
            <a:ext cx="2560320" cy="1965960"/>
          </a:xfrm>
          <a:prstGeom prst="roundRect">
            <a:avLst>
              <a:gd name="adj" fmla="val 3721"/>
            </a:avLst>
          </a:prstGeom>
          <a:solidFill>
            <a:srgbClr val="FFF4EE"/>
          </a:solidFill>
          <a:ln w="12700">
            <a:solidFill>
              <a:srgbClr val="E975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828800"/>
            <a:ext cx="2560320" cy="201168"/>
          </a:xfrm>
          <a:prstGeom prst="rect">
            <a:avLst/>
          </a:prstGeom>
          <a:solidFill>
            <a:srgbClr val="E97532"/>
          </a:solidFill>
          <a:ln w="12700">
            <a:solidFill>
              <a:srgbClr val="E9753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212848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会议纪要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670048"/>
            <a:ext cx="22311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56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自动提炼重点、结论与待办，让会后跟进更清楚。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21024" y="1828800"/>
            <a:ext cx="2560320" cy="1965960"/>
          </a:xfrm>
          <a:prstGeom prst="roundRect">
            <a:avLst>
              <a:gd name="adj" fmla="val 3721"/>
            </a:avLst>
          </a:prstGeom>
          <a:solidFill>
            <a:srgbClr val="EEF8F9"/>
          </a:solidFill>
          <a:ln w="12700">
            <a:solidFill>
              <a:srgbClr val="1D7A8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21024" y="1828800"/>
            <a:ext cx="2560320" cy="201168"/>
          </a:xfrm>
          <a:prstGeom prst="rect">
            <a:avLst/>
          </a:prstGeom>
          <a:solidFill>
            <a:srgbClr val="1D7A85"/>
          </a:solidFill>
          <a:ln w="12700">
            <a:solidFill>
              <a:srgbClr val="1D7A8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85616" y="2212848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 PPT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85616" y="2670048"/>
            <a:ext cx="22311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56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搭框架、写标题、梳理逻辑，让表达更完整。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1828800"/>
            <a:ext cx="2560320" cy="1965960"/>
          </a:xfrm>
          <a:prstGeom prst="roundRect">
            <a:avLst>
              <a:gd name="adj" fmla="val 3721"/>
            </a:avLst>
          </a:prstGeom>
          <a:solidFill>
            <a:srgbClr val="FEF8E8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1828800"/>
            <a:ext cx="2560320" cy="201168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65392" y="2212848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数据整理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65392" y="2670048"/>
            <a:ext cx="22311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56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做清洗、归类、汇总和初步分析，提升可读性。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80576" y="1828800"/>
            <a:ext cx="2011680" cy="1965960"/>
          </a:xfrm>
          <a:prstGeom prst="roundRect">
            <a:avLst>
              <a:gd name="adj" fmla="val 3721"/>
            </a:avLst>
          </a:prstGeom>
          <a:solidFill>
            <a:srgbClr val="F4F7F9"/>
          </a:solidFill>
          <a:ln w="12700">
            <a:solidFill>
              <a:srgbClr val="16324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80576" y="1828800"/>
            <a:ext cx="2011680" cy="201168"/>
          </a:xfrm>
          <a:prstGeom prst="rect">
            <a:avLst/>
          </a:prstGeom>
          <a:solidFill>
            <a:srgbClr val="163245"/>
          </a:solidFill>
          <a:ln w="12700">
            <a:solidFill>
              <a:srgbClr val="163245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45168" y="2212848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编程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345168" y="2670048"/>
            <a:ext cx="16824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56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写脚本、查问题、做自动化与原型验证。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1248" y="482803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最先落地的，不是宏大叙事，而是每天都会重复发生的具体工作。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1261872" y="5687568"/>
            <a:ext cx="109728" cy="109728"/>
          </a:xfrm>
          <a:prstGeom prst="ellipse">
            <a:avLst/>
          </a:prstGeom>
          <a:solidFill>
            <a:srgbClr val="1D7A85"/>
          </a:solidFill>
          <a:ln w="12700">
            <a:solidFill>
              <a:srgbClr val="1D7A8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81328" y="5532120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这些场景的共同特点是：信息量大、重复度高、需要先整理后判断。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1261872" y="6199632"/>
            <a:ext cx="109728" cy="109728"/>
          </a:xfrm>
          <a:prstGeom prst="ellipse">
            <a:avLst/>
          </a:prstGeom>
          <a:solidFill>
            <a:srgbClr val="1D7A85"/>
          </a:solidFill>
          <a:ln w="12700">
            <a:solidFill>
              <a:srgbClr val="1D7A85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81328" y="6044184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 AI 的价值，不只是省时间，更是把人的注意力释放到更重要的决定上。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287000" y="641908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Salon Talk  |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6355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也在改变我们的生活方式。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41248" y="3703320"/>
            <a:ext cx="5806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从学习、信息获取到内容生产，普通人第一次拥有了“全天候助手”。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818120" y="1417320"/>
            <a:ext cx="3383280" cy="3931920"/>
          </a:xfrm>
          <a:prstGeom prst="roundRect">
            <a:avLst>
              <a:gd name="adj" fmla="val 2703"/>
            </a:avLst>
          </a:prstGeom>
          <a:solidFill>
            <a:srgbClr val="1A3447"/>
          </a:solidFill>
          <a:ln w="12700">
            <a:solidFill>
              <a:srgbClr val="2A445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38160" y="2075688"/>
            <a:ext cx="109728" cy="109728"/>
          </a:xfrm>
          <a:prstGeom prst="ellipse">
            <a:avLst/>
          </a:prstGeom>
          <a:solidFill>
            <a:srgbClr val="E97532"/>
          </a:solidFill>
          <a:ln w="12700">
            <a:solidFill>
              <a:srgbClr val="E9753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57616" y="19202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学习更个性化，随时可以获得解释与辅导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138160" y="2880360"/>
            <a:ext cx="109728" cy="109728"/>
          </a:xfrm>
          <a:prstGeom prst="ellipse">
            <a:avLst/>
          </a:prstGeom>
          <a:solidFill>
            <a:srgbClr val="E97532"/>
          </a:solidFill>
          <a:ln w="12700">
            <a:solidFill>
              <a:srgbClr val="E9753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57616" y="272491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信息获取更直接，不必层层检索和筛选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38160" y="3685032"/>
            <a:ext cx="109728" cy="109728"/>
          </a:xfrm>
          <a:prstGeom prst="ellipse">
            <a:avLst/>
          </a:prstGeom>
          <a:solidFill>
            <a:srgbClr val="E97532"/>
          </a:solidFill>
          <a:ln w="12700">
            <a:solidFill>
              <a:srgbClr val="E9753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57616" y="352958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内容创作门槛更低，普通人也能做图文和视频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287000" y="641908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Salon Talk  |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F2233"/>
          </a:solidFill>
          <a:ln w="12700">
            <a:solidFill>
              <a:srgbClr val="0F22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8686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带来的新问题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84080" y="886968"/>
            <a:ext cx="1783080" cy="310896"/>
          </a:xfrm>
          <a:prstGeom prst="rect">
            <a:avLst/>
          </a:prstGeom>
          <a:solidFill>
            <a:srgbClr val="FFFFFF"/>
          </a:solidFill>
          <a:ln>
            <a:solidFill>
              <a:srgbClr val="E9753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97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RISK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881360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1810512"/>
            <a:ext cx="10287000" cy="804672"/>
          </a:xfrm>
          <a:prstGeom prst="roundRect">
            <a:avLst>
              <a:gd name="adj" fmla="val 9091"/>
            </a:avLst>
          </a:prstGeom>
          <a:solidFill>
            <a:srgbClr val="FFF4EE"/>
          </a:solidFill>
          <a:ln w="12700">
            <a:solidFill>
              <a:srgbClr val="E975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07008" y="202996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准确性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962656" y="2029968"/>
            <a:ext cx="7516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56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可能说得像真的，但并不一定是真的。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32688" y="2907792"/>
            <a:ext cx="10287000" cy="804672"/>
          </a:xfrm>
          <a:prstGeom prst="roundRect">
            <a:avLst>
              <a:gd name="adj" fmla="val 9091"/>
            </a:avLst>
          </a:prstGeom>
          <a:solidFill>
            <a:srgbClr val="EEF8F9"/>
          </a:solidFill>
          <a:ln w="12700">
            <a:solidFill>
              <a:srgbClr val="1D7A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31272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隐私与安全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62656" y="3127248"/>
            <a:ext cx="7516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56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输入内容可能涉及企业或个人敏感信息。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32688" y="4005072"/>
            <a:ext cx="10287000" cy="804672"/>
          </a:xfrm>
          <a:prstGeom prst="roundRect">
            <a:avLst>
              <a:gd name="adj" fmla="val 9091"/>
            </a:avLst>
          </a:prstGeom>
          <a:solidFill>
            <a:srgbClr val="FEF8E8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07008" y="422452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版权与合规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962656" y="4224528"/>
            <a:ext cx="7516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56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生成内容的边界仍需谨慎，不能直接拿来即用。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32688" y="5102352"/>
            <a:ext cx="102870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1632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07008" y="532180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依赖风险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962656" y="5321808"/>
            <a:ext cx="7516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56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过度依赖可能削弱人的基本能力与判断质量。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50976" y="598932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会用 AI 和用对 AI，是两件不同的事。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287000" y="641908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Salon Talk  |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F2233"/>
          </a:solidFill>
          <a:ln w="12700">
            <a:solidFill>
              <a:srgbClr val="0F22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8686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时代真正稀缺的能力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84080" y="886968"/>
            <a:ext cx="1783080" cy="310896"/>
          </a:xfrm>
          <a:prstGeom prst="rect">
            <a:avLst/>
          </a:prstGeom>
          <a:solidFill>
            <a:srgbClr val="FFFFFF"/>
          </a:solidFill>
          <a:ln>
            <a:solidFill>
              <a:srgbClr val="E9753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97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HUMAN EDGE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881360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1901952"/>
            <a:ext cx="2011680" cy="3246120"/>
          </a:xfrm>
          <a:prstGeom prst="roundRect">
            <a:avLst>
              <a:gd name="adj" fmla="val 3636"/>
            </a:avLst>
          </a:prstGeom>
          <a:solidFill>
            <a:srgbClr val="FFF4EE"/>
          </a:solidFill>
          <a:ln w="12700">
            <a:solidFill>
              <a:srgbClr val="E975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2066544"/>
            <a:ext cx="329184" cy="128016"/>
          </a:xfrm>
          <a:prstGeom prst="rect">
            <a:avLst/>
          </a:prstGeom>
          <a:solidFill>
            <a:srgbClr val="E97532"/>
          </a:solidFill>
          <a:ln w="12700">
            <a:solidFill>
              <a:srgbClr val="E9753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3774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提问能力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926080"/>
            <a:ext cx="16824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56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能不能把问题说清楚，决定 AI 输出的上限。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75888" y="1901952"/>
            <a:ext cx="2011680" cy="3246120"/>
          </a:xfrm>
          <a:prstGeom prst="roundRect">
            <a:avLst>
              <a:gd name="adj" fmla="val 3636"/>
            </a:avLst>
          </a:prstGeom>
          <a:solidFill>
            <a:srgbClr val="EEF8F9"/>
          </a:solidFill>
          <a:ln w="12700">
            <a:solidFill>
              <a:srgbClr val="1D7A8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0" y="2066544"/>
            <a:ext cx="329184" cy="128016"/>
          </a:xfrm>
          <a:prstGeom prst="rect">
            <a:avLst/>
          </a:prstGeom>
          <a:solidFill>
            <a:srgbClr val="1D7A85"/>
          </a:solidFill>
          <a:ln w="12700">
            <a:solidFill>
              <a:srgbClr val="1D7A8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23774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判断能力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40480" y="2926080"/>
            <a:ext cx="16824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56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能不能识别对错、轻重和优先级，决定结果是否可靠。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10528" y="1901952"/>
            <a:ext cx="2011680" cy="3246120"/>
          </a:xfrm>
          <a:prstGeom prst="roundRect">
            <a:avLst>
              <a:gd name="adj" fmla="val 3636"/>
            </a:avLst>
          </a:prstGeom>
          <a:solidFill>
            <a:srgbClr val="FEF8E8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75120" y="2066544"/>
            <a:ext cx="329184" cy="128016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23774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整合能力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75120" y="2926080"/>
            <a:ext cx="16824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56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能不能把零散信息变成方案，决定输出是否可执行。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345168" y="1901952"/>
            <a:ext cx="2011680" cy="3246120"/>
          </a:xfrm>
          <a:prstGeom prst="roundRect">
            <a:avLst>
              <a:gd name="adj" fmla="val 3636"/>
            </a:avLst>
          </a:prstGeom>
          <a:solidFill>
            <a:srgbClr val="F4F7F9"/>
          </a:solidFill>
          <a:ln w="12700">
            <a:solidFill>
              <a:srgbClr val="16324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509760" y="2066544"/>
            <a:ext cx="329184" cy="128016"/>
          </a:xfrm>
          <a:prstGeom prst="rect">
            <a:avLst/>
          </a:prstGeom>
          <a:solidFill>
            <a:srgbClr val="163245"/>
          </a:solidFill>
          <a:ln w="12700">
            <a:solidFill>
              <a:srgbClr val="163245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09760" y="23774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持续学习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509760" y="2926080"/>
            <a:ext cx="16824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56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能不能持续跟进工具变化，决定长期竞争力。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57150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提高了下限，但真正拉开差距的，仍然是人的思考与判断。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287000" y="641908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Salon Talk  |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F2233"/>
          </a:solidFill>
          <a:ln w="12700">
            <a:solidFill>
              <a:srgbClr val="0F22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8686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对企业、园区与地产转型的启发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84080" y="886968"/>
            <a:ext cx="1783080" cy="310896"/>
          </a:xfrm>
          <a:prstGeom prst="rect">
            <a:avLst/>
          </a:prstGeom>
          <a:solidFill>
            <a:srgbClr val="FFFFFF"/>
          </a:solidFill>
          <a:ln>
            <a:solidFill>
              <a:srgbClr val="E9753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97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INDUSTRY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881360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78308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未来竞争不只是空间供给，更是服务效率和运营能力。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877824" y="2331720"/>
            <a:ext cx="2834640" cy="292608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6B7C8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6517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从物理空间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97280" y="30632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C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传统价值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207008" y="3813048"/>
            <a:ext cx="109728" cy="109728"/>
          </a:xfrm>
          <a:prstGeom prst="ellipse">
            <a:avLst/>
          </a:prstGeom>
          <a:solidFill>
            <a:srgbClr val="6B7C89"/>
          </a:solidFill>
          <a:ln w="12700">
            <a:solidFill>
              <a:srgbClr val="6B7C89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26464" y="365760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租售与物业服务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207008" y="4361688"/>
            <a:ext cx="109728" cy="109728"/>
          </a:xfrm>
          <a:prstGeom prst="ellipse">
            <a:avLst/>
          </a:prstGeom>
          <a:solidFill>
            <a:srgbClr val="6B7C89"/>
          </a:solidFill>
          <a:ln w="12700">
            <a:solidFill>
              <a:srgbClr val="6B7C89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26464" y="420624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配套资源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207008" y="4910328"/>
            <a:ext cx="109728" cy="109728"/>
          </a:xfrm>
          <a:prstGeom prst="ellipse">
            <a:avLst/>
          </a:prstGeom>
          <a:solidFill>
            <a:srgbClr val="6B7C89"/>
          </a:solidFill>
          <a:ln w="12700">
            <a:solidFill>
              <a:srgbClr val="6B7C89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26464" y="475488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地理位置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85616" y="3794760"/>
            <a:ext cx="310896" cy="0"/>
          </a:xfrm>
          <a:prstGeom prst="line">
            <a:avLst/>
          </a:prstGeom>
          <a:noFill/>
          <a:ln w="12700">
            <a:solidFill>
              <a:srgbClr val="D9A441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151376" y="2331720"/>
            <a:ext cx="2834640" cy="2926080"/>
          </a:xfrm>
          <a:prstGeom prst="roundRect">
            <a:avLst>
              <a:gd name="adj" fmla="val 2581"/>
            </a:avLst>
          </a:prstGeom>
          <a:solidFill>
            <a:srgbClr val="FFF4EE"/>
          </a:solidFill>
          <a:ln w="12700">
            <a:solidFill>
              <a:srgbClr val="E975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70832" y="26517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走向数字运营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370832" y="30632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97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效率升级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80560" y="3813048"/>
            <a:ext cx="109728" cy="109728"/>
          </a:xfrm>
          <a:prstGeom prst="ellipse">
            <a:avLst/>
          </a:prstGeom>
          <a:solidFill>
            <a:srgbClr val="E97532"/>
          </a:solidFill>
          <a:ln w="12700">
            <a:solidFill>
              <a:srgbClr val="E97532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0016" y="365760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招商支持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480560" y="4361688"/>
            <a:ext cx="109728" cy="109728"/>
          </a:xfrm>
          <a:prstGeom prst="ellipse">
            <a:avLst/>
          </a:prstGeom>
          <a:solidFill>
            <a:srgbClr val="E97532"/>
          </a:solidFill>
          <a:ln w="12700">
            <a:solidFill>
              <a:srgbClr val="E97532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0016" y="420624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客户服务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480560" y="4910328"/>
            <a:ext cx="109728" cy="109728"/>
          </a:xfrm>
          <a:prstGeom prst="ellipse">
            <a:avLst/>
          </a:prstGeom>
          <a:solidFill>
            <a:srgbClr val="E97532"/>
          </a:solidFill>
          <a:ln w="12700">
            <a:solidFill>
              <a:srgbClr val="E97532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0016" y="475488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内容传播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059168" y="3794760"/>
            <a:ext cx="310896" cy="0"/>
          </a:xfrm>
          <a:prstGeom prst="line">
            <a:avLst/>
          </a:prstGeom>
          <a:noFill/>
          <a:ln w="12700">
            <a:solidFill>
              <a:srgbClr val="D9A441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424928" y="2331720"/>
            <a:ext cx="2834640" cy="2926080"/>
          </a:xfrm>
          <a:prstGeom prst="roundRect">
            <a:avLst>
              <a:gd name="adj" fmla="val 2581"/>
            </a:avLst>
          </a:prstGeom>
          <a:solidFill>
            <a:srgbClr val="EEF8F9"/>
          </a:solidFill>
          <a:ln w="12700">
            <a:solidFill>
              <a:srgbClr val="1D7A8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44384" y="26517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升级产业平台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7644384" y="30632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长期方向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754112" y="3813048"/>
            <a:ext cx="109728" cy="109728"/>
          </a:xfrm>
          <a:prstGeom prst="ellipse">
            <a:avLst/>
          </a:prstGeom>
          <a:solidFill>
            <a:srgbClr val="1D7A85"/>
          </a:solidFill>
          <a:ln w="12700">
            <a:solidFill>
              <a:srgbClr val="1D7A85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73568" y="365760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决策辅助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754112" y="4361688"/>
            <a:ext cx="109728" cy="109728"/>
          </a:xfrm>
          <a:prstGeom prst="ellipse">
            <a:avLst/>
          </a:prstGeom>
          <a:solidFill>
            <a:srgbClr val="1D7A85"/>
          </a:solidFill>
          <a:ln w="12700">
            <a:solidFill>
              <a:srgbClr val="1D7A85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73568" y="420624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企业协同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754112" y="4910328"/>
            <a:ext cx="109728" cy="109728"/>
          </a:xfrm>
          <a:prstGeom prst="ellipse">
            <a:avLst/>
          </a:prstGeom>
          <a:solidFill>
            <a:srgbClr val="1D7A85"/>
          </a:solidFill>
          <a:ln w="12700">
            <a:solidFill>
              <a:srgbClr val="1D7A85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73568" y="475488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32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创新生态连接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0287000" y="641908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Salon Talk  |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841248"/>
            <a:ext cx="10607040" cy="5166360"/>
          </a:xfrm>
          <a:prstGeom prst="roundRect">
            <a:avLst>
              <a:gd name="adj" fmla="val 2124"/>
            </a:avLst>
          </a:prstGeom>
          <a:solidFill>
            <a:srgbClr val="163042"/>
          </a:solidFill>
          <a:ln w="12700">
            <a:solidFill>
              <a:srgbClr val="2843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43000" y="13258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75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结语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43000" y="1828800"/>
            <a:ext cx="5669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不会简单替代人，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但会重构人与工具的分工。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188720" y="3904488"/>
            <a:ext cx="109728" cy="109728"/>
          </a:xfrm>
          <a:prstGeom prst="ellipse">
            <a:avLst/>
          </a:prstGeom>
          <a:solidFill>
            <a:srgbClr val="1D7A85"/>
          </a:solidFill>
          <a:ln w="12700">
            <a:solidFill>
              <a:srgbClr val="1D7A85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08176" y="374904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未来的差距，不只是会不会用 AI，而是会不会把 AI 用进业务。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188720" y="4526280"/>
            <a:ext cx="109728" cy="109728"/>
          </a:xfrm>
          <a:prstGeom prst="ellipse">
            <a:avLst/>
          </a:prstGeom>
          <a:solidFill>
            <a:srgbClr val="1D7A85"/>
          </a:solidFill>
          <a:ln w="12700">
            <a:solidFill>
              <a:srgbClr val="1D7A85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08176" y="4370832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越早理解、越早实践，就越容易在变化中占据主动。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188720" y="5148072"/>
            <a:ext cx="109728" cy="109728"/>
          </a:xfrm>
          <a:prstGeom prst="ellipse">
            <a:avLst/>
          </a:prstGeom>
          <a:solidFill>
            <a:srgbClr val="1D7A85"/>
          </a:solidFill>
          <a:ln w="12700">
            <a:solidFill>
              <a:srgbClr val="1D7A85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4992624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对个人如此，对企业、园区和地产转型也是如此。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818120" y="187452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1D3A4E"/>
          </a:solidFill>
          <a:ln w="12700">
            <a:solidFill>
              <a:srgbClr val="E975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18120" y="24231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818120" y="2944368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7E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欢迎交流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87000" y="641908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Salon Talk  | 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AI时代对我们工作与生活的影响</dc:title>
  <dc:subject>AI salon talk</dc:subject>
  <dc:creator>Codex</dc:creator>
  <cp:lastModifiedBy>Codex</cp:lastModifiedBy>
  <cp:revision>1</cp:revision>
  <dcterms:created xsi:type="dcterms:W3CDTF">2026-03-17T10:59:48Z</dcterms:created>
  <dcterms:modified xsi:type="dcterms:W3CDTF">2026-03-17T10:59:48Z</dcterms:modified>
</cp:coreProperties>
</file>